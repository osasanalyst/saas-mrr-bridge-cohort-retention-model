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239432</c:v>
                </c:pt>
                <c:pt idx="2">
                  <c:v>251088</c:v>
                </c:pt>
                <c:pt idx="3">
                  <c:v>258188</c:v>
                </c:pt>
                <c:pt idx="4">
                  <c:v>256631</c:v>
                </c:pt>
                <c:pt idx="5">
                  <c:v>252915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Starting MRR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239432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11656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Expansion</c:v>
                </c:pt>
              </c:strCache>
            </c:strRef>
          </c:tx>
          <c:spPr>
            <a:solidFill>
              <a:srgbClr val="A9D1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7100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Reactivated</c:v>
                </c:pt>
              </c:strCache>
            </c:strRef>
          </c:tx>
          <c:spPr>
            <a:solidFill>
              <a:srgbClr val="E2EF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343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Contraction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1900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3716</c:v>
                </c:pt>
                <c:pt idx="6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Ending MRR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Starting MRR</c:v>
                  </c:pt>
                  <c:pt idx="1">
                    <c:v>New</c:v>
                  </c:pt>
                  <c:pt idx="2">
                    <c:v>Expansion</c:v>
                  </c:pt>
                  <c:pt idx="3">
                    <c:v>Reactivated</c:v>
                  </c:pt>
                  <c:pt idx="4">
                    <c:v>Contraction</c:v>
                  </c:pt>
                  <c:pt idx="5">
                    <c:v>Churned</c:v>
                  </c:pt>
                  <c:pt idx="6">
                    <c:v>Ending MRR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252915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NRR</c:v>
                </c:pt>
              </c:strCache>
            </c:strRef>
          </c:tx>
          <c:spPr>
            <a:solidFill>
              <a:srgbClr val="1F3864"/>
            </a:solidFill>
            <a:ln w="28575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Jan-23</c:v>
                  </c:pt>
                  <c:pt idx="1">
                    <c:v>Feb-23</c:v>
                  </c:pt>
                  <c:pt idx="2">
                    <c:v>Mar-23</c:v>
                  </c:pt>
                  <c:pt idx="3">
                    <c:v>Apr-23</c:v>
                  </c:pt>
                  <c:pt idx="4">
                    <c:v>May-23</c:v>
                  </c:pt>
                  <c:pt idx="5">
                    <c:v>Jun-23</c:v>
                  </c:pt>
                  <c:pt idx="6">
                    <c:v>Jul-23</c:v>
                  </c:pt>
                  <c:pt idx="7">
                    <c:v>Aug-23</c:v>
                  </c:pt>
                  <c:pt idx="8">
                    <c:v>Sep-23</c:v>
                  </c:pt>
                  <c:pt idx="9">
                    <c:v>Oct-23</c:v>
                  </c:pt>
                  <c:pt idx="10">
                    <c:v>Nov-23</c:v>
                  </c:pt>
                  <c:pt idx="11">
                    <c:v>Dec-23</c:v>
                  </c:pt>
                  <c:pt idx="12">
                    <c:v>Jan-24</c:v>
                  </c:pt>
                  <c:pt idx="13">
                    <c:v>Feb-24</c:v>
                  </c:pt>
                  <c:pt idx="14">
                    <c:v>Mar-24</c:v>
                  </c:pt>
                  <c:pt idx="15">
                    <c:v>Apr-24</c:v>
                  </c:pt>
                  <c:pt idx="16">
                    <c:v>May-24</c:v>
                  </c:pt>
                  <c:pt idx="17">
                    <c:v>Jun-24</c:v>
                  </c:pt>
                  <c:pt idx="18">
                    <c:v>Jul-24</c:v>
                  </c:pt>
                  <c:pt idx="19">
                    <c:v>Aug-24</c:v>
                  </c:pt>
                  <c:pt idx="20">
                    <c:v>Sep-24</c:v>
                  </c:pt>
                  <c:pt idx="21">
                    <c:v>Oct-24</c:v>
                  </c:pt>
                  <c:pt idx="22">
                    <c:v>Nov-24</c:v>
                  </c:pt>
                  <c:pt idx="23">
                    <c:v>Dec-24</c:v>
                  </c:pt>
                  <c:pt idx="24">
                    <c:v>Jan-25</c:v>
                  </c:pt>
                  <c:pt idx="25">
                    <c:v>Feb-25</c:v>
                  </c:pt>
                  <c:pt idx="26">
                    <c:v>Mar-25</c:v>
                  </c:pt>
                  <c:pt idx="27">
                    <c:v>Apr-25</c:v>
                  </c:pt>
                  <c:pt idx="28">
                    <c:v>May-25</c:v>
                  </c:pt>
                  <c:pt idx="29">
                    <c:v>Jun-25</c:v>
                  </c:pt>
                  <c:pt idx="30">
                    <c:v>Jul-25</c:v>
                  </c:pt>
                  <c:pt idx="31">
                    <c:v>Aug-25</c:v>
                  </c:pt>
                  <c:pt idx="32">
                    <c:v>Sep-25</c:v>
                  </c:pt>
                  <c:pt idx="33">
                    <c:v>Oct-25</c:v>
                  </c:pt>
                  <c:pt idx="34">
                    <c:v>Nov-25</c:v>
                  </c:pt>
                  <c:pt idx="35">
                    <c:v>Dec-25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/>
                </c:pt>
                <c:pt idx="1">
                  <c:v>105.8</c:v>
                </c:pt>
                <c:pt idx="2">
                  <c:v>103.4</c:v>
                </c:pt>
                <c:pt idx="3">
                  <c:v>97.4</c:v>
                </c:pt>
                <c:pt idx="4">
                  <c:v>101.3</c:v>
                </c:pt>
                <c:pt idx="5">
                  <c:v>100.3</c:v>
                </c:pt>
                <c:pt idx="6">
                  <c:v>102.3</c:v>
                </c:pt>
                <c:pt idx="7">
                  <c:v>102.4</c:v>
                </c:pt>
                <c:pt idx="8">
                  <c:v>101.9</c:v>
                </c:pt>
                <c:pt idx="9">
                  <c:v>101.2</c:v>
                </c:pt>
                <c:pt idx="10">
                  <c:v>100.7</c:v>
                </c:pt>
                <c:pt idx="11">
                  <c:v>100.4</c:v>
                </c:pt>
                <c:pt idx="12">
                  <c:v>101.2</c:v>
                </c:pt>
                <c:pt idx="13">
                  <c:v>101</c:v>
                </c:pt>
                <c:pt idx="14">
                  <c:v>99.9</c:v>
                </c:pt>
                <c:pt idx="15">
                  <c:v>102</c:v>
                </c:pt>
                <c:pt idx="16">
                  <c:v>102.3</c:v>
                </c:pt>
                <c:pt idx="17">
                  <c:v>102.1</c:v>
                </c:pt>
                <c:pt idx="18">
                  <c:v>102</c:v>
                </c:pt>
                <c:pt idx="19">
                  <c:v>102.1</c:v>
                </c:pt>
                <c:pt idx="20">
                  <c:v>100.7</c:v>
                </c:pt>
                <c:pt idx="21">
                  <c:v>100.5</c:v>
                </c:pt>
                <c:pt idx="22">
                  <c:v>101.8</c:v>
                </c:pt>
                <c:pt idx="23">
                  <c:v>100.5</c:v>
                </c:pt>
                <c:pt idx="24">
                  <c:v>101.9</c:v>
                </c:pt>
                <c:pt idx="25">
                  <c:v>100.2</c:v>
                </c:pt>
                <c:pt idx="26">
                  <c:v>101.1</c:v>
                </c:pt>
                <c:pt idx="27">
                  <c:v>100.5</c:v>
                </c:pt>
                <c:pt idx="28">
                  <c:v>100.4</c:v>
                </c:pt>
                <c:pt idx="29">
                  <c:v>100.9</c:v>
                </c:pt>
                <c:pt idx="30">
                  <c:v>100</c:v>
                </c:pt>
                <c:pt idx="31">
                  <c:v>99.3</c:v>
                </c:pt>
                <c:pt idx="32">
                  <c:v>101.5</c:v>
                </c:pt>
                <c:pt idx="33">
                  <c:v>101.7</c:v>
                </c:pt>
                <c:pt idx="34">
                  <c:v>100.4</c:v>
                </c:pt>
                <c:pt idx="35">
                  <c:v>100.8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GRR</c:v>
                </c:pt>
              </c:strCache>
            </c:strRef>
          </c:tx>
          <c:spPr>
            <a:solidFill>
              <a:srgbClr val="808080"/>
            </a:solidFill>
            <a:ln w="28575" cap="flat">
              <a:solidFill>
                <a:srgbClr val="808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Jan-23</c:v>
                  </c:pt>
                  <c:pt idx="1">
                    <c:v>Feb-23</c:v>
                  </c:pt>
                  <c:pt idx="2">
                    <c:v>Mar-23</c:v>
                  </c:pt>
                  <c:pt idx="3">
                    <c:v>Apr-23</c:v>
                  </c:pt>
                  <c:pt idx="4">
                    <c:v>May-23</c:v>
                  </c:pt>
                  <c:pt idx="5">
                    <c:v>Jun-23</c:v>
                  </c:pt>
                  <c:pt idx="6">
                    <c:v>Jul-23</c:v>
                  </c:pt>
                  <c:pt idx="7">
                    <c:v>Aug-23</c:v>
                  </c:pt>
                  <c:pt idx="8">
                    <c:v>Sep-23</c:v>
                  </c:pt>
                  <c:pt idx="9">
                    <c:v>Oct-23</c:v>
                  </c:pt>
                  <c:pt idx="10">
                    <c:v>Nov-23</c:v>
                  </c:pt>
                  <c:pt idx="11">
                    <c:v>Dec-23</c:v>
                  </c:pt>
                  <c:pt idx="12">
                    <c:v>Jan-24</c:v>
                  </c:pt>
                  <c:pt idx="13">
                    <c:v>Feb-24</c:v>
                  </c:pt>
                  <c:pt idx="14">
                    <c:v>Mar-24</c:v>
                  </c:pt>
                  <c:pt idx="15">
                    <c:v>Apr-24</c:v>
                  </c:pt>
                  <c:pt idx="16">
                    <c:v>May-24</c:v>
                  </c:pt>
                  <c:pt idx="17">
                    <c:v>Jun-24</c:v>
                  </c:pt>
                  <c:pt idx="18">
                    <c:v>Jul-24</c:v>
                  </c:pt>
                  <c:pt idx="19">
                    <c:v>Aug-24</c:v>
                  </c:pt>
                  <c:pt idx="20">
                    <c:v>Sep-24</c:v>
                  </c:pt>
                  <c:pt idx="21">
                    <c:v>Oct-24</c:v>
                  </c:pt>
                  <c:pt idx="22">
                    <c:v>Nov-24</c:v>
                  </c:pt>
                  <c:pt idx="23">
                    <c:v>Dec-24</c:v>
                  </c:pt>
                  <c:pt idx="24">
                    <c:v>Jan-25</c:v>
                  </c:pt>
                  <c:pt idx="25">
                    <c:v>Feb-25</c:v>
                  </c:pt>
                  <c:pt idx="26">
                    <c:v>Mar-25</c:v>
                  </c:pt>
                  <c:pt idx="27">
                    <c:v>Apr-25</c:v>
                  </c:pt>
                  <c:pt idx="28">
                    <c:v>May-25</c:v>
                  </c:pt>
                  <c:pt idx="29">
                    <c:v>Jun-25</c:v>
                  </c:pt>
                  <c:pt idx="30">
                    <c:v>Jul-25</c:v>
                  </c:pt>
                  <c:pt idx="31">
                    <c:v>Aug-25</c:v>
                  </c:pt>
                  <c:pt idx="32">
                    <c:v>Sep-25</c:v>
                  </c:pt>
                  <c:pt idx="33">
                    <c:v>Oct-25</c:v>
                  </c:pt>
                  <c:pt idx="34">
                    <c:v>Nov-25</c:v>
                  </c:pt>
                  <c:pt idx="35">
                    <c:v>Dec-25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/>
                </c:pt>
                <c:pt idx="1">
                  <c:v>95.7</c:v>
                </c:pt>
                <c:pt idx="2">
                  <c:v>98.6</c:v>
                </c:pt>
                <c:pt idx="3">
                  <c:v>93.5</c:v>
                </c:pt>
                <c:pt idx="4">
                  <c:v>96.2</c:v>
                </c:pt>
                <c:pt idx="5">
                  <c:v>96.9</c:v>
                </c:pt>
                <c:pt idx="6">
                  <c:v>99.4</c:v>
                </c:pt>
                <c:pt idx="7">
                  <c:v>96.6</c:v>
                </c:pt>
                <c:pt idx="8">
                  <c:v>96.4</c:v>
                </c:pt>
                <c:pt idx="9">
                  <c:v>98.2</c:v>
                </c:pt>
                <c:pt idx="10">
                  <c:v>96.8</c:v>
                </c:pt>
                <c:pt idx="11">
                  <c:v>97.1</c:v>
                </c:pt>
                <c:pt idx="12">
                  <c:v>97.3</c:v>
                </c:pt>
                <c:pt idx="13">
                  <c:v>97.8</c:v>
                </c:pt>
                <c:pt idx="14">
                  <c:v>96.5</c:v>
                </c:pt>
                <c:pt idx="15">
                  <c:v>96.7</c:v>
                </c:pt>
                <c:pt idx="16">
                  <c:v>97.8</c:v>
                </c:pt>
                <c:pt idx="17">
                  <c:v>98.2</c:v>
                </c:pt>
                <c:pt idx="18">
                  <c:v>97.1</c:v>
                </c:pt>
                <c:pt idx="19">
                  <c:v>97</c:v>
                </c:pt>
                <c:pt idx="20">
                  <c:v>97.3</c:v>
                </c:pt>
                <c:pt idx="21">
                  <c:v>97.2</c:v>
                </c:pt>
                <c:pt idx="22">
                  <c:v>97.2</c:v>
                </c:pt>
                <c:pt idx="23">
                  <c:v>97.4</c:v>
                </c:pt>
                <c:pt idx="24">
                  <c:v>98.4</c:v>
                </c:pt>
                <c:pt idx="25">
                  <c:v>97</c:v>
                </c:pt>
                <c:pt idx="26">
                  <c:v>97.4</c:v>
                </c:pt>
                <c:pt idx="27">
                  <c:v>97</c:v>
                </c:pt>
                <c:pt idx="28">
                  <c:v>96.7</c:v>
                </c:pt>
                <c:pt idx="29">
                  <c:v>97.3</c:v>
                </c:pt>
                <c:pt idx="30">
                  <c:v>96.2</c:v>
                </c:pt>
                <c:pt idx="31">
                  <c:v>95.9</c:v>
                </c:pt>
                <c:pt idx="32">
                  <c:v>97.5</c:v>
                </c:pt>
                <c:pt idx="33">
                  <c:v>98</c:v>
                </c:pt>
                <c:pt idx="34">
                  <c:v>97.8</c:v>
                </c:pt>
                <c:pt idx="35">
                  <c:v>97.7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808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85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MRR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D1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EF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New</c:v>
                  </c:pt>
                  <c:pt idx="1">
                    <c:v>Expansion</c:v>
                  </c:pt>
                  <c:pt idx="2">
                    <c:v>Reactivated</c:v>
                  </c:pt>
                  <c:pt idx="3">
                    <c:v>Contraction</c:v>
                  </c:pt>
                  <c:pt idx="4">
                    <c:v>Churned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11656</c:v>
                </c:pt>
                <c:pt idx="1">
                  <c:v>7100</c:v>
                </c:pt>
                <c:pt idx="2">
                  <c:v>343</c:v>
                </c:pt>
                <c:pt idx="3">
                  <c:v>-1900</c:v>
                </c:pt>
                <c:pt idx="4">
                  <c:v>-3716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040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Oct-23 Cohort</c:v>
                </c:pt>
              </c:strCache>
            </c:strRef>
          </c:tx>
          <c:spPr>
            <a:solidFill>
              <a:srgbClr val="C00000"/>
            </a:solidFill>
            <a:ln w="28575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103.3</c:v>
                </c:pt>
                <c:pt idx="2">
                  <c:v>88.2</c:v>
                </c:pt>
                <c:pt idx="3">
                  <c:v>82.8</c:v>
                </c:pt>
                <c:pt idx="4">
                  <c:v>83.9</c:v>
                </c:pt>
                <c:pt idx="5">
                  <c:v>85</c:v>
                </c:pt>
                <c:pt idx="6">
                  <c:v>82.8</c:v>
                </c:pt>
                <c:pt idx="7">
                  <c:v>81.8</c:v>
                </c:pt>
                <c:pt idx="8">
                  <c:v>81.8</c:v>
                </c:pt>
                <c:pt idx="9">
                  <c:v>80.7</c:v>
                </c:pt>
                <c:pt idx="10">
                  <c:v>90.5</c:v>
                </c:pt>
                <c:pt idx="11">
                  <c:v>85.1</c:v>
                </c:pt>
                <c:pt idx="12">
                  <c:v>86.1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of Other 7 Cohorts</c:v>
                </c:pt>
              </c:strCache>
            </c:strRef>
          </c:tx>
          <c:spPr>
            <a:solidFill>
              <a:srgbClr val="808080"/>
            </a:solidFill>
            <a:ln w="28575" cap="flat">
              <a:solidFill>
                <a:srgbClr val="808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102.97</c:v>
                </c:pt>
                <c:pt idx="2">
                  <c:v>105.76</c:v>
                </c:pt>
                <c:pt idx="3">
                  <c:v>107.4</c:v>
                </c:pt>
                <c:pt idx="4">
                  <c:v>109.67</c:v>
                </c:pt>
                <c:pt idx="5">
                  <c:v>110.87</c:v>
                </c:pt>
                <c:pt idx="6">
                  <c:v>112.5</c:v>
                </c:pt>
                <c:pt idx="7">
                  <c:v>111.03</c:v>
                </c:pt>
                <c:pt idx="8">
                  <c:v>111.64</c:v>
                </c:pt>
                <c:pt idx="9">
                  <c:v>113.41</c:v>
                </c:pt>
                <c:pt idx="10">
                  <c:v>114.64</c:v>
                </c:pt>
                <c:pt idx="11">
                  <c:v>111.24</c:v>
                </c:pt>
                <c:pt idx="12">
                  <c:v>112.96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75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040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Revenue Bridge &amp; Retention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Covered: January 2023 – December 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Osaretin Idiagbonmwen  |  FP&amp;A Analyst, ACA (ICAN)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947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52928" y="15087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98648" y="1947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44368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Retention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57216" y="15087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02936" y="1947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$164.8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48656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User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61504" y="15087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CHURN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07224" y="1947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52944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Logo Churn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765792" y="15087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MRR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11512" y="1947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$252,915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57232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Monthly Recurring Revenue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1132027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703320"/>
            <a:ext cx="10771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($11,656 from 94 customers) and expansion revenue ($7,100 from 44 accounts) more than offset elevated churn ($3,716 lost from 34 accounts), lifting ending MRR to $252,915 — a net gain of $13,483 for the month.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11320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of 100.8% confirms the business is expanding revenue within its existing customer base, while GRR of 97.7% reflects disciplined logo retention above the 95% benchmark commonly used across SaaS businesses of this scale.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 Bridge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 |  Figures in USD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91672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303020" y="2138689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239,432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59202" y="197171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11,656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15384" y="186999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71566" y="18650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27748" y="18650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(1,900)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83930" y="189230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(3,716)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40112" y="194553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252,915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December 2025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70AD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783080"/>
            <a:ext cx="9006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contributed $11,656 in MRR from 94 new customers — the single largest driver of gross movement this month, and consistent with the accelerating new-logo trend seen through late 2025.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74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3429000"/>
            <a:ext cx="9006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removed $3,716 from 34 accounts, the largest single drag on MRR. This was partially offset by $343 in reactivated revenue from 7 previously lapsed accounts.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51206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A9D18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5074920"/>
            <a:ext cx="9006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of $7,100 across 44 accounts reflects healthy upsell activity within the existing base, reinforcing the NRR reading of 100.8%.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&amp; Gross Revenue Retention Trend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history, January 2023 – December 2025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91672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retention trend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cohorts (2023) show NRR swinging between roughly 88% and 110%, driven by a small customer base where a single upgrade or churn event moves the percentage sharply. This volatility is a base-size effect, not a retention problem.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1089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2024 onward, NRR stabilizes into a consistent 100–102% band, indicating expansion revenue reliably outpaces contraction and churn as the customer base scales.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5262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 has held in a steady 96–98% range throughout the full period, reflecting consistent logo retention discipline independent of the NRR volatility seen in the early cohorts.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by Signup Month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retention indexed to signup month, 0–12 months since signup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58568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8568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54096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9624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6208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31736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27264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22792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18320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13848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13848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009376" y="1554480"/>
            <a:ext cx="795528" cy="36576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09376" y="1554480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1920240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920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63040" y="1920240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58568" y="1920240"/>
            <a:ext cx="795528" cy="402336"/>
          </a:xfrm>
          <a:prstGeom prst="rect">
            <a:avLst/>
          </a:prstGeom>
          <a:solidFill>
            <a:srgbClr val="C3E6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8568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54096" y="1920240"/>
            <a:ext cx="795528" cy="402336"/>
          </a:xfrm>
          <a:prstGeom prst="rect">
            <a:avLst/>
          </a:prstGeom>
          <a:solidFill>
            <a:srgbClr val="E1F2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102.9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9624" y="1920240"/>
            <a:ext cx="795528" cy="402336"/>
          </a:xfrm>
          <a:prstGeom prst="rect">
            <a:avLst/>
          </a:prstGeom>
          <a:solidFill>
            <a:srgbClr val="FEE3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9624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45152" y="1920240"/>
            <a:ext cx="795528" cy="402336"/>
          </a:xfrm>
          <a:prstGeom prst="rect">
            <a:avLst/>
          </a:prstGeom>
          <a:solidFill>
            <a:srgbClr val="FDD5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40680" y="1920240"/>
            <a:ext cx="795528" cy="402336"/>
          </a:xfrm>
          <a:prstGeom prst="rect">
            <a:avLst/>
          </a:prstGeom>
          <a:solidFill>
            <a:srgbClr val="FA8C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36208" y="1920240"/>
            <a:ext cx="795528" cy="402336"/>
          </a:xfrm>
          <a:prstGeom prst="rect">
            <a:avLst/>
          </a:prstGeom>
          <a:solidFill>
            <a:srgbClr val="FA8C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031736" y="1920240"/>
            <a:ext cx="795528" cy="402336"/>
          </a:xfrm>
          <a:prstGeom prst="rect">
            <a:avLst/>
          </a:prstGeom>
          <a:solidFill>
            <a:srgbClr val="FBAA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31736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27264" y="1920240"/>
            <a:ext cx="795528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27264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622792" y="1920240"/>
            <a:ext cx="795528" cy="402336"/>
          </a:xfrm>
          <a:prstGeom prst="rect">
            <a:avLst/>
          </a:prstGeom>
          <a:solidFill>
            <a:srgbClr val="D0EC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22792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418320" y="1920240"/>
            <a:ext cx="795528" cy="402336"/>
          </a:xfrm>
          <a:prstGeom prst="rect">
            <a:avLst/>
          </a:prstGeom>
          <a:solidFill>
            <a:srgbClr val="EEF8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320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213848" y="1920240"/>
            <a:ext cx="795528" cy="402336"/>
          </a:xfrm>
          <a:prstGeom prst="rect">
            <a:avLst/>
          </a:prstGeom>
          <a:solidFill>
            <a:srgbClr val="D0EC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13848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9376" y="192024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009376" y="192024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8640" y="2322576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23225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463040" y="2322576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63040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58568" y="2322576"/>
            <a:ext cx="795528" cy="402336"/>
          </a:xfrm>
          <a:prstGeom prst="rect">
            <a:avLst/>
          </a:prstGeom>
          <a:solidFill>
            <a:srgbClr val="CEEB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58568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104.7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054096" y="2322576"/>
            <a:ext cx="795528" cy="402336"/>
          </a:xfrm>
          <a:prstGeom prst="rect">
            <a:avLst/>
          </a:prstGeom>
          <a:solidFill>
            <a:srgbClr val="DAEF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54096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103.6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849624" y="2322576"/>
            <a:ext cx="795528" cy="402336"/>
          </a:xfrm>
          <a:prstGeom prst="rect">
            <a:avLst/>
          </a:prstGeom>
          <a:solidFill>
            <a:srgbClr val="E6F5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9624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102.4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645152" y="2322576"/>
            <a:ext cx="795528" cy="402336"/>
          </a:xfrm>
          <a:prstGeom prst="rect">
            <a:avLst/>
          </a:prstGeom>
          <a:solidFill>
            <a:srgbClr val="7AC8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45152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40680" y="2322576"/>
            <a:ext cx="795528" cy="402336"/>
          </a:xfrm>
          <a:prstGeom prst="rect">
            <a:avLst/>
          </a:prstGeom>
          <a:solidFill>
            <a:srgbClr val="79C78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40680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112.9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236208" y="2322576"/>
            <a:ext cx="795528" cy="402336"/>
          </a:xfrm>
          <a:prstGeom prst="rect">
            <a:avLst/>
          </a:prstGeom>
          <a:solidFill>
            <a:srgbClr val="6DC28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36208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031736" y="2322576"/>
            <a:ext cx="795528" cy="402336"/>
          </a:xfrm>
          <a:prstGeom prst="rect">
            <a:avLst/>
          </a:prstGeom>
          <a:solidFill>
            <a:srgbClr val="F0F9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31736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101.4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827264" y="2322576"/>
            <a:ext cx="795528" cy="402336"/>
          </a:xfrm>
          <a:prstGeom prst="rect">
            <a:avLst/>
          </a:prstGeom>
          <a:solidFill>
            <a:srgbClr val="FE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27264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622792" y="2322576"/>
            <a:ext cx="795528" cy="402336"/>
          </a:xfrm>
          <a:prstGeom prst="rect">
            <a:avLst/>
          </a:prstGeom>
          <a:solidFill>
            <a:srgbClr val="FCFE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622792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100.3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418320" y="2322576"/>
            <a:ext cx="795528" cy="402336"/>
          </a:xfrm>
          <a:prstGeom prst="rect">
            <a:avLst/>
          </a:prstGeom>
          <a:solidFill>
            <a:srgbClr val="FFF6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18320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213848" y="2322576"/>
            <a:ext cx="795528" cy="402336"/>
          </a:xfrm>
          <a:prstGeom prst="rect">
            <a:avLst/>
          </a:prstGeom>
          <a:solidFill>
            <a:srgbClr val="FFF6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13848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1009376" y="2322576"/>
            <a:ext cx="795528" cy="402336"/>
          </a:xfrm>
          <a:prstGeom prst="rect">
            <a:avLst/>
          </a:prstGeom>
          <a:solidFill>
            <a:srgbClr val="E4F4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09376" y="232257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102.6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48640" y="2724912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4360" y="27249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Jul-23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463040" y="2724912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63040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258568" y="2724912"/>
            <a:ext cx="795528" cy="402336"/>
          </a:xfrm>
          <a:prstGeom prst="rect">
            <a:avLst/>
          </a:prstGeom>
          <a:solidFill>
            <a:srgbClr val="A2D8B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58568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108.9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054096" y="2724912"/>
            <a:ext cx="795528" cy="402336"/>
          </a:xfrm>
          <a:prstGeom prst="rect">
            <a:avLst/>
          </a:prstGeom>
          <a:solidFill>
            <a:srgbClr val="8CCF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54096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111.1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849624" y="2724912"/>
            <a:ext cx="795528" cy="402336"/>
          </a:xfrm>
          <a:prstGeom prst="rect">
            <a:avLst/>
          </a:prstGeom>
          <a:solidFill>
            <a:srgbClr val="97D4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49624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645152" y="2724912"/>
            <a:ext cx="795528" cy="402336"/>
          </a:xfrm>
          <a:prstGeom prst="rect">
            <a:avLst/>
          </a:prstGeom>
          <a:solidFill>
            <a:srgbClr val="8BCE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45152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111.2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440680" y="2724912"/>
            <a:ext cx="795528" cy="402336"/>
          </a:xfrm>
          <a:prstGeom prst="rect">
            <a:avLst/>
          </a:prstGeom>
          <a:solidFill>
            <a:srgbClr val="74C5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40680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113.4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236208" y="2724912"/>
            <a:ext cx="795528" cy="402336"/>
          </a:xfrm>
          <a:prstGeom prst="rect">
            <a:avLst/>
          </a:prstGeom>
          <a:solidFill>
            <a:srgbClr val="68C0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36208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114.5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031736" y="2724912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031736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116.7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827264" y="2724912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827264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119.0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622792" y="2724912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622792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129.0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9418320" y="2724912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18320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126.8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0213848" y="2724912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213848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127.9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1009376" y="2724912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009376" y="272491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135.7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48640" y="3127248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94360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Oct-23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1463040" y="3127248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463040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258568" y="3127248"/>
            <a:ext cx="795528" cy="402336"/>
          </a:xfrm>
          <a:prstGeom prst="rect">
            <a:avLst/>
          </a:prstGeom>
          <a:solidFill>
            <a:srgbClr val="DDF1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258568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103.3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3054096" y="3127248"/>
            <a:ext cx="795528" cy="402336"/>
          </a:xfrm>
          <a:prstGeom prst="rect">
            <a:avLst/>
          </a:prstGeom>
          <a:solidFill>
            <a:srgbClr val="F989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054096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849624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849624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645152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645152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440680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440680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236208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236208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7031736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031736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827264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827264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8622792" y="3127248"/>
            <a:ext cx="795528" cy="402336"/>
          </a:xfrm>
          <a:prstGeom prst="rect">
            <a:avLst/>
          </a:prstGeom>
          <a:solidFill>
            <a:srgbClr val="F86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622792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9418320" y="3127248"/>
            <a:ext cx="795528" cy="402336"/>
          </a:xfrm>
          <a:prstGeom prst="rect">
            <a:avLst/>
          </a:prstGeom>
          <a:solidFill>
            <a:srgbClr val="FBA0A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418320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10213848" y="3127248"/>
            <a:ext cx="795528" cy="402336"/>
          </a:xfrm>
          <a:prstGeom prst="rect">
            <a:avLst/>
          </a:prstGeom>
          <a:solidFill>
            <a:srgbClr val="F86A6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213848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1009376" y="3127248"/>
            <a:ext cx="795528" cy="402336"/>
          </a:xfrm>
          <a:prstGeom prst="rect">
            <a:avLst/>
          </a:prstGeom>
          <a:solidFill>
            <a:srgbClr val="F974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009376" y="3127248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48640" y="3529584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94360" y="35295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Jan-24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1463040" y="3529584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463040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2258568" y="3529584"/>
            <a:ext cx="795528" cy="402336"/>
          </a:xfrm>
          <a:prstGeom prst="rect">
            <a:avLst/>
          </a:prstGeom>
          <a:solidFill>
            <a:srgbClr val="FEDF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258568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3054096" y="3529584"/>
            <a:ext cx="795528" cy="402336"/>
          </a:xfrm>
          <a:prstGeom prst="rect">
            <a:avLst/>
          </a:prstGeom>
          <a:solidFill>
            <a:srgbClr val="E8F5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054096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102.2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3849624" y="3529584"/>
            <a:ext cx="795528" cy="402336"/>
          </a:xfrm>
          <a:prstGeom prst="rect">
            <a:avLst/>
          </a:prstGeom>
          <a:solidFill>
            <a:srgbClr val="77C6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849624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113.1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4645152" y="3529584"/>
            <a:ext cx="795528" cy="402336"/>
          </a:xfrm>
          <a:prstGeom prst="rect">
            <a:avLst/>
          </a:prstGeom>
          <a:solidFill>
            <a:srgbClr val="82CB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645152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112.0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5440680" y="3529584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440680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116.4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236208" y="3529584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236208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120.8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7031736" y="3529584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031736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120.8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7827264" y="3529584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827264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119.7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8622792" y="3529584"/>
            <a:ext cx="795528" cy="402336"/>
          </a:xfrm>
          <a:prstGeom prst="rect">
            <a:avLst/>
          </a:prstGeom>
          <a:solidFill>
            <a:srgbClr val="AEDD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622792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107.8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9418320" y="3529584"/>
            <a:ext cx="795528" cy="402336"/>
          </a:xfrm>
          <a:prstGeom prst="rect">
            <a:avLst/>
          </a:prstGeom>
          <a:solidFill>
            <a:srgbClr val="B9E2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418320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106.7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10213848" y="3529584"/>
            <a:ext cx="795528" cy="402336"/>
          </a:xfrm>
          <a:prstGeom prst="rect">
            <a:avLst/>
          </a:prstGeom>
          <a:solidFill>
            <a:srgbClr val="C4E6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0213848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105.7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11009376" y="3529584"/>
            <a:ext cx="795528" cy="402336"/>
          </a:xfrm>
          <a:prstGeom prst="rect">
            <a:avLst/>
          </a:prstGeom>
          <a:solidFill>
            <a:srgbClr val="80CA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009376" y="3529584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112.2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548640" y="3931920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94360" y="39319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Apr-24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1463040" y="3931920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463040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2258568" y="3931920"/>
            <a:ext cx="795528" cy="402336"/>
          </a:xfrm>
          <a:prstGeom prst="rect">
            <a:avLst/>
          </a:prstGeom>
          <a:solidFill>
            <a:srgbClr val="CAE9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2258568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105.1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3054096" y="3931920"/>
            <a:ext cx="795528" cy="402336"/>
          </a:xfrm>
          <a:prstGeom prst="rect">
            <a:avLst/>
          </a:prstGeom>
          <a:solidFill>
            <a:srgbClr val="AFDE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054096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3849624" y="3931920"/>
            <a:ext cx="795528" cy="402336"/>
          </a:xfrm>
          <a:prstGeom prst="rect">
            <a:avLst/>
          </a:prstGeom>
          <a:solidFill>
            <a:srgbClr val="7AC8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849624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112.8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4645152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645152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115.3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5440680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5440680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121.2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6236208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236208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124.7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7031736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031736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127.2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7827264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827264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127.2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8622792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8622792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142.5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9418320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418320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149.3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10213848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213848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134.0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11009376" y="3931920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1009376" y="3931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123.9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548640" y="4334256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94360" y="43342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Jul-24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1463040" y="4334256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463040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2258568" y="4334256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2258568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3054096" y="4334256"/>
            <a:ext cx="795528" cy="402336"/>
          </a:xfrm>
          <a:prstGeom prst="rect">
            <a:avLst/>
          </a:prstGeom>
          <a:solidFill>
            <a:srgbClr val="A6DA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054096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108.6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3849624" y="4334256"/>
            <a:ext cx="795528" cy="402336"/>
          </a:xfrm>
          <a:prstGeom prst="rect">
            <a:avLst/>
          </a:prstGeom>
          <a:solidFill>
            <a:srgbClr val="96D3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849624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110.1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4645152" y="4334256"/>
            <a:ext cx="795528" cy="402336"/>
          </a:xfrm>
          <a:prstGeom prst="rect">
            <a:avLst/>
          </a:prstGeom>
          <a:solidFill>
            <a:srgbClr val="8ED0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645152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110.9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5440680" y="4334256"/>
            <a:ext cx="795528" cy="402336"/>
          </a:xfrm>
          <a:prstGeom prst="rect">
            <a:avLst/>
          </a:prstGeom>
          <a:solidFill>
            <a:srgbClr val="75C5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440680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113.3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6236208" y="4334256"/>
            <a:ext cx="795528" cy="402336"/>
          </a:xfrm>
          <a:prstGeom prst="rect">
            <a:avLst/>
          </a:prstGeom>
          <a:solidFill>
            <a:srgbClr val="75C5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236208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113.3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7031736" y="4334256"/>
            <a:ext cx="795528" cy="402336"/>
          </a:xfrm>
          <a:prstGeom prst="rect">
            <a:avLst/>
          </a:prstGeom>
          <a:solidFill>
            <a:srgbClr val="75C5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031736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113.3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7827264" y="4334256"/>
            <a:ext cx="795528" cy="402336"/>
          </a:xfrm>
          <a:prstGeom prst="rect">
            <a:avLst/>
          </a:prstGeom>
          <a:solidFill>
            <a:srgbClr val="65BF7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7827264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114.8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8622792" y="4334256"/>
            <a:ext cx="795528" cy="402336"/>
          </a:xfrm>
          <a:prstGeom prst="rect">
            <a:avLst/>
          </a:prstGeom>
          <a:solidFill>
            <a:srgbClr val="85CC9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622792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111.7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9418320" y="4334256"/>
            <a:ext cx="795528" cy="402336"/>
          </a:xfrm>
          <a:prstGeom prst="rect">
            <a:avLst/>
          </a:prstGeom>
          <a:solidFill>
            <a:srgbClr val="63B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9418320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119.5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10213848" y="4334256"/>
            <a:ext cx="795528" cy="402336"/>
          </a:xfrm>
          <a:prstGeom prst="rect">
            <a:avLst/>
          </a:prstGeom>
          <a:solidFill>
            <a:srgbClr val="9DD6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0213848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109.4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11009376" y="4334256"/>
            <a:ext cx="795528" cy="402336"/>
          </a:xfrm>
          <a:prstGeom prst="rect">
            <a:avLst/>
          </a:prstGeom>
          <a:solidFill>
            <a:srgbClr val="FFF8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1009376" y="4334256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800" dirty="0"/>
          </a:p>
        </p:txBody>
      </p:sp>
      <p:sp>
        <p:nvSpPr>
          <p:cNvPr id="228" name="Shape 226"/>
          <p:cNvSpPr/>
          <p:nvPr/>
        </p:nvSpPr>
        <p:spPr>
          <a:xfrm>
            <a:off x="548640" y="4736592"/>
            <a:ext cx="9144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94360" y="47365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Oct-24</a:t>
            </a:r>
            <a:endParaRPr lang="en-US" sz="900" dirty="0"/>
          </a:p>
        </p:txBody>
      </p:sp>
      <p:sp>
        <p:nvSpPr>
          <p:cNvPr id="230" name="Shape 228"/>
          <p:cNvSpPr/>
          <p:nvPr/>
        </p:nvSpPr>
        <p:spPr>
          <a:xfrm>
            <a:off x="1463040" y="4736592"/>
            <a:ext cx="7955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1463040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2258568" y="4736592"/>
            <a:ext cx="795528" cy="402336"/>
          </a:xfrm>
          <a:prstGeom prst="rect">
            <a:avLst/>
          </a:prstGeom>
          <a:solidFill>
            <a:srgbClr val="FFF8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2258568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3054096" y="4736592"/>
            <a:ext cx="795528" cy="402336"/>
          </a:xfrm>
          <a:prstGeom prst="rect">
            <a:avLst/>
          </a:prstGeom>
          <a:solidFill>
            <a:srgbClr val="D3ED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3054096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104.2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3849624" y="4736592"/>
            <a:ext cx="795528" cy="402336"/>
          </a:xfrm>
          <a:prstGeom prst="rect">
            <a:avLst/>
          </a:prstGeom>
          <a:solidFill>
            <a:srgbClr val="BFE4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849624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4645152" y="4736592"/>
            <a:ext cx="795528" cy="402336"/>
          </a:xfrm>
          <a:prstGeom prst="rect">
            <a:avLst/>
          </a:prstGeom>
          <a:solidFill>
            <a:srgbClr val="9AD5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4645152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109.7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5440680" y="4736592"/>
            <a:ext cx="795528" cy="402336"/>
          </a:xfrm>
          <a:prstGeom prst="rect">
            <a:avLst/>
          </a:prstGeom>
          <a:solidFill>
            <a:srgbClr val="93D2A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440680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110.4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6236208" y="4736592"/>
            <a:ext cx="795528" cy="402336"/>
          </a:xfrm>
          <a:prstGeom prst="rect">
            <a:avLst/>
          </a:prstGeom>
          <a:solidFill>
            <a:srgbClr val="85CC9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236208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111.7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7031736" y="4736592"/>
            <a:ext cx="795528" cy="402336"/>
          </a:xfrm>
          <a:prstGeom prst="rect">
            <a:avLst/>
          </a:prstGeom>
          <a:solidFill>
            <a:srgbClr val="BDE4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031736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106.3</a:t>
            </a:r>
            <a:endParaRPr lang="en-US" sz="800" dirty="0"/>
          </a:p>
        </p:txBody>
      </p:sp>
      <p:sp>
        <p:nvSpPr>
          <p:cNvPr id="246" name="Shape 244"/>
          <p:cNvSpPr/>
          <p:nvPr/>
        </p:nvSpPr>
        <p:spPr>
          <a:xfrm>
            <a:off x="7827264" y="4736592"/>
            <a:ext cx="795528" cy="402336"/>
          </a:xfrm>
          <a:prstGeom prst="rect">
            <a:avLst/>
          </a:prstGeom>
          <a:solidFill>
            <a:srgbClr val="D3ED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827264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104.2</a:t>
            </a:r>
            <a:endParaRPr lang="en-US" sz="800" dirty="0"/>
          </a:p>
        </p:txBody>
      </p:sp>
      <p:sp>
        <p:nvSpPr>
          <p:cNvPr id="248" name="Shape 246"/>
          <p:cNvSpPr/>
          <p:nvPr/>
        </p:nvSpPr>
        <p:spPr>
          <a:xfrm>
            <a:off x="8622792" y="4736592"/>
            <a:ext cx="795528" cy="402336"/>
          </a:xfrm>
          <a:prstGeom prst="rect">
            <a:avLst/>
          </a:prstGeom>
          <a:solidFill>
            <a:srgbClr val="FE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8622792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</a:t>
            </a:r>
            <a:endParaRPr lang="en-US" sz="800" dirty="0"/>
          </a:p>
        </p:txBody>
      </p:sp>
      <p:sp>
        <p:nvSpPr>
          <p:cNvPr id="250" name="Shape 248"/>
          <p:cNvSpPr/>
          <p:nvPr/>
        </p:nvSpPr>
        <p:spPr>
          <a:xfrm>
            <a:off x="9418320" y="4736592"/>
            <a:ext cx="795528" cy="402336"/>
          </a:xfrm>
          <a:prstGeom prst="rect">
            <a:avLst/>
          </a:prstGeom>
          <a:solidFill>
            <a:srgbClr val="FFFA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9418320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</a:t>
            </a:r>
            <a:endParaRPr lang="en-US" sz="800" dirty="0"/>
          </a:p>
        </p:txBody>
      </p:sp>
      <p:sp>
        <p:nvSpPr>
          <p:cNvPr id="252" name="Shape 250"/>
          <p:cNvSpPr/>
          <p:nvPr/>
        </p:nvSpPr>
        <p:spPr>
          <a:xfrm>
            <a:off x="10213848" y="4736592"/>
            <a:ext cx="795528" cy="402336"/>
          </a:xfrm>
          <a:prstGeom prst="rect">
            <a:avLst/>
          </a:prstGeom>
          <a:solidFill>
            <a:srgbClr val="FE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10213848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</a:t>
            </a:r>
            <a:endParaRPr lang="en-US" sz="800" dirty="0"/>
          </a:p>
        </p:txBody>
      </p:sp>
      <p:sp>
        <p:nvSpPr>
          <p:cNvPr id="254" name="Shape 252"/>
          <p:cNvSpPr/>
          <p:nvPr/>
        </p:nvSpPr>
        <p:spPr>
          <a:xfrm>
            <a:off x="11009376" y="4736592"/>
            <a:ext cx="795528" cy="402336"/>
          </a:xfrm>
          <a:prstGeom prst="rect">
            <a:avLst/>
          </a:prstGeom>
          <a:solidFill>
            <a:srgbClr val="FFFA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11009376" y="4736592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257" name="Text 25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 |  Net MRR impact by movement type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402336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46404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1600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MRR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20574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6404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(3,716)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2514600"/>
            <a:ext cx="40233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46404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0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(1,900)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29718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D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46404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35240" y="3429000"/>
            <a:ext cx="40233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46404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1560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11,656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35240" y="38862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46404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515600" y="3886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635240" y="4343400"/>
            <a:ext cx="402336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6404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515600" y="4343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13,483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Watching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signals from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Churn Dollars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churned MRR has grown from roughly $150–$500 in early 2023 to $3,000–$4,400 by late 2025, even though the logo churn rate has stayed flat in a 1.5–3.0% band. A stable rate on a larger base still means a growing dollar amount that new business has to outrun every month.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7490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80808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Stays Minor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7033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MRR is small and inconsistent month to month (often $0, occasionally $200–$390), and has never come close to offsetting churn in any single month. Win-back efforts are not yet a meaningful lever for recovering lost revenue.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 Oct-23 Cohort Underperformance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cohort that never recovers above its starting MRR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187952" cy="3931920"/>
          </a:xfrm>
          <a:prstGeom prst="roundRect">
            <a:avLst>
              <a:gd name="adj" fmla="val 1395"/>
            </a:avLst>
          </a:prstGeom>
          <a:solidFill>
            <a:srgbClr val="FDEDED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0574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October 2023 cohort drops to 82–86% retention from month 2 onward and only reaches 90.5% by month 10 — it never climbs back above its starting MRR within the 12-month window.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cohort in the dataset recovers past 100% and continues growing, most reaching 110–140% by month 12.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investigating whether a pricing change, onboarding issue, or product problem specific to that signup month is responsible.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Cloud Solutions  |  SaaS Revenue Bridge &amp; Retention Review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subscription data generated synthetically in Python across a 36-month period, then loaded into MySQL.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movements, cohort retention, and bridge calculations built and validated using SQL, then connected to Excel via ODBC.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08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this presentation built in Excel and PowerPoint from the same live, formula-driven data model.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reflect synthetic data generated for portfolio demonstration purposes and do not represent a real company.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5212080"/>
            <a:ext cx="10725912" cy="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Osaretin Idiagbonmwen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Analyst  |  ACA (ICAN)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idiagbonmwenosaretin@gmail.com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2026-08-05T02:41:29Z</dcterms:created>
  <dcterms:modified xsi:type="dcterms:W3CDTF">2026-08-05T02:41:29Z</dcterms:modified>
</cp:coreProperties>
</file>